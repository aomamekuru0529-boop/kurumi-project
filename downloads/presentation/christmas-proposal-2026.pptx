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52C"/>
                </a:solidFill>
                <a:latin typeface="Noto Sans CJK JP"/>
              </a:defRPr>
            </a:pPr>
            <a:r>
              <a:t>2026年 クリスマスカードのご提案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10160" y="50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59"/>
              </a:spcAft>
              <a:defRPr sz="1200" b="1">
                <a:solidFill>
                  <a:srgbClr val="A38249"/>
                </a:solidFill>
                <a:latin typeface="Noto Sans CJK JP"/>
              </a:defRPr>
            </a:pPr>
            <a:r>
              <a:t>ALPHA CREATE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3844016" cy="12801"/>
          </a:xfrm>
          <a:prstGeom prst="rect">
            <a:avLst/>
          </a:prstGeom>
          <a:solidFill>
            <a:srgbClr val="DA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A38249"/>
                </a:solidFill>
                <a:latin typeface="Noto Sans CJK JP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188720"/>
            <a:ext cx="95097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  <a:defRPr sz="3000" b="1">
                <a:solidFill>
                  <a:srgbClr val="17352C"/>
                </a:solidFill>
                <a:latin typeface="Noto Sans CJK JP"/>
              </a:defRPr>
            </a:pPr>
            <a:r>
              <a:t>収まりきらない、ありがとう。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819656"/>
            <a:ext cx="11795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5B6B63"/>
                </a:solidFill>
                <a:latin typeface="Noto Sans CJK JP"/>
              </a:defRPr>
            </a:pPr>
            <a:r>
              <a:t>感謝が光になり、あなたらしい妖精へ育つ。スマホで楽しむ、体験型クリスマスカード。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70080" y="1252728"/>
            <a:ext cx="2423160" cy="393192"/>
          </a:xfrm>
          <a:prstGeom prst="roundRect">
            <a:avLst>
              <a:gd name="adj" fmla="val 8000"/>
            </a:avLst>
          </a:prstGeom>
          <a:solidFill>
            <a:srgbClr val="E8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0" y="1316736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30"/>
              </a:spcAft>
              <a:defRPr sz="1100" b="1">
                <a:solidFill>
                  <a:srgbClr val="17352C"/>
                </a:solidFill>
                <a:latin typeface="Noto Sans CJK JP"/>
              </a:defRPr>
            </a:pPr>
            <a:r>
              <a:t>スマホで体験 ／ 約3分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331720"/>
            <a:ext cx="411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A38249"/>
                </a:solidFill>
                <a:latin typeface="Noto Sans CJK JP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236829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17352C"/>
                </a:solidFill>
                <a:latin typeface="Noto Sans CJK JP"/>
              </a:defRPr>
            </a:pPr>
            <a:r>
              <a:t>クリスマス村を探索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" y="2834640"/>
            <a:ext cx="2212848" cy="4864608"/>
          </a:xfrm>
          <a:prstGeom prst="roundRect">
            <a:avLst>
              <a:gd name="adj" fmla="val 8000"/>
            </a:avLst>
          </a:prstGeom>
          <a:solidFill>
            <a:srgbClr val="203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-vill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916936"/>
            <a:ext cx="2066543" cy="47685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536192" y="2843784"/>
            <a:ext cx="758952" cy="50292"/>
          </a:xfrm>
          <a:prstGeom prst="roundRect">
            <a:avLst>
              <a:gd name="adj" fmla="val 8000"/>
            </a:avLst>
          </a:prstGeom>
          <a:solidFill>
            <a:srgbClr val="203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7909560"/>
            <a:ext cx="2624328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90"/>
              </a:spcAft>
              <a:defRPr sz="1300" b="0">
                <a:solidFill>
                  <a:srgbClr val="5B6B63"/>
                </a:solidFill>
                <a:latin typeface="Noto Sans CJK JP"/>
              </a:defRPr>
            </a:pPr>
            <a:r>
              <a:t>360°見渡して妖精を発見。</a:t>
            </a:r>
          </a:p>
          <a:p>
            <a:pPr algn="ctr">
              <a:spcAft>
                <a:spcPts val="390"/>
              </a:spcAft>
              <a:defRPr sz="1300" b="0">
                <a:solidFill>
                  <a:srgbClr val="5B6B63"/>
                </a:solidFill>
                <a:latin typeface="Noto Sans CJK JP"/>
              </a:defRPr>
            </a:pPr>
            <a:r>
              <a:t>妖精について工房へ。</a:t>
            </a:r>
          </a:p>
        </p:txBody>
      </p:sp>
      <p:sp>
        <p:nvSpPr>
          <p:cNvPr id="16" name="Chevron 15"/>
          <p:cNvSpPr/>
          <p:nvPr/>
        </p:nvSpPr>
        <p:spPr>
          <a:xfrm>
            <a:off x="3191256" y="5102352"/>
            <a:ext cx="164592" cy="256032"/>
          </a:xfrm>
          <a:prstGeom prst="chevron">
            <a:avLst/>
          </a:prstGeom>
          <a:solidFill>
            <a:srgbClr val="A38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2331720"/>
            <a:ext cx="411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A38249"/>
                </a:solidFill>
                <a:latin typeface="Noto Sans CJK JP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6784" y="236829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17352C"/>
                </a:solidFill>
                <a:latin typeface="Noto Sans CJK JP"/>
              </a:defRPr>
            </a:pPr>
            <a:r>
              <a:t>プレゼントをつくる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21024" y="2834640"/>
            <a:ext cx="2212848" cy="4864608"/>
          </a:xfrm>
          <a:prstGeom prst="roundRect">
            <a:avLst>
              <a:gd name="adj" fmla="val 8000"/>
            </a:avLst>
          </a:prstGeom>
          <a:solidFill>
            <a:srgbClr val="203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-work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2916936"/>
            <a:ext cx="2066543" cy="476859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343400" y="2843784"/>
            <a:ext cx="758952" cy="50292"/>
          </a:xfrm>
          <a:prstGeom prst="roundRect">
            <a:avLst>
              <a:gd name="adj" fmla="val 8000"/>
            </a:avLst>
          </a:prstGeom>
          <a:solidFill>
            <a:srgbClr val="203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7909560"/>
            <a:ext cx="2624328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90"/>
              </a:spcAft>
              <a:defRPr sz="1300" b="0">
                <a:solidFill>
                  <a:srgbClr val="5B6B63"/>
                </a:solidFill>
                <a:latin typeface="Noto Sans CJK JP"/>
              </a:defRPr>
            </a:pPr>
            <a:r>
              <a:t>4つの質問に答えると、</a:t>
            </a:r>
          </a:p>
          <a:p>
            <a:pPr algn="ctr">
              <a:spcAft>
                <a:spcPts val="390"/>
              </a:spcAft>
              <a:defRPr sz="1300" b="0">
                <a:solidFill>
                  <a:srgbClr val="5B6B63"/>
                </a:solidFill>
                <a:latin typeface="Noto Sans CJK JP"/>
              </a:defRPr>
            </a:pPr>
            <a:r>
              <a:t>箱・リボン・装飾が変化。</a:t>
            </a:r>
          </a:p>
        </p:txBody>
      </p:sp>
      <p:sp>
        <p:nvSpPr>
          <p:cNvPr id="23" name="Chevron 22"/>
          <p:cNvSpPr/>
          <p:nvPr/>
        </p:nvSpPr>
        <p:spPr>
          <a:xfrm>
            <a:off x="5998464" y="5102352"/>
            <a:ext cx="164592" cy="256032"/>
          </a:xfrm>
          <a:prstGeom prst="chevron">
            <a:avLst/>
          </a:prstGeom>
          <a:solidFill>
            <a:srgbClr val="A38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2331720"/>
            <a:ext cx="411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A38249"/>
                </a:solidFill>
                <a:latin typeface="Noto Sans CJK JP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236829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17352C"/>
                </a:solidFill>
                <a:latin typeface="Noto Sans CJK JP"/>
              </a:defRPr>
            </a:pPr>
            <a:r>
              <a:t>なでて、妖精が進化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8231" y="2834640"/>
            <a:ext cx="2212848" cy="4864608"/>
          </a:xfrm>
          <a:prstGeom prst="roundRect">
            <a:avLst>
              <a:gd name="adj" fmla="val 8000"/>
            </a:avLst>
          </a:prstGeom>
          <a:solidFill>
            <a:srgbClr val="203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3-stro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3" y="2916936"/>
            <a:ext cx="2066543" cy="476859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150607" y="2843784"/>
            <a:ext cx="758952" cy="50292"/>
          </a:xfrm>
          <a:prstGeom prst="roundRect">
            <a:avLst>
              <a:gd name="adj" fmla="val 8000"/>
            </a:avLst>
          </a:prstGeom>
          <a:solidFill>
            <a:srgbClr val="203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59" y="7909560"/>
            <a:ext cx="2624328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90"/>
              </a:spcAft>
              <a:defRPr sz="1300" b="0">
                <a:solidFill>
                  <a:srgbClr val="5B6B63"/>
                </a:solidFill>
                <a:latin typeface="Noto Sans CJK JP"/>
              </a:defRPr>
            </a:pPr>
            <a:r>
              <a:t>プレゼントから感謝の光。</a:t>
            </a:r>
          </a:p>
          <a:p>
            <a:pPr algn="ctr">
              <a:spcAft>
                <a:spcPts val="390"/>
              </a:spcAft>
              <a:defRPr sz="1300" b="0">
                <a:solidFill>
                  <a:srgbClr val="5B6B63"/>
                </a:solidFill>
                <a:latin typeface="Noto Sans CJK JP"/>
              </a:defRPr>
            </a:pPr>
            <a:r>
              <a:t>なでるほど妖精が成長。</a:t>
            </a:r>
          </a:p>
        </p:txBody>
      </p:sp>
      <p:sp>
        <p:nvSpPr>
          <p:cNvPr id="30" name="Chevron 29"/>
          <p:cNvSpPr/>
          <p:nvPr/>
        </p:nvSpPr>
        <p:spPr>
          <a:xfrm>
            <a:off x="8805672" y="5102352"/>
            <a:ext cx="164592" cy="256032"/>
          </a:xfrm>
          <a:prstGeom prst="chevron">
            <a:avLst/>
          </a:prstGeom>
          <a:solidFill>
            <a:srgbClr val="A38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6567" y="2331720"/>
            <a:ext cx="411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A38249"/>
                </a:solidFill>
                <a:latin typeface="Noto Sans CJK JP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199" y="236829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17352C"/>
                </a:solidFill>
                <a:latin typeface="Noto Sans CJK JP"/>
              </a:defRPr>
            </a:pPr>
            <a:r>
              <a:t>あなたの妖精に出会う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2834640"/>
            <a:ext cx="2212848" cy="4864608"/>
          </a:xfrm>
          <a:prstGeom prst="roundRect">
            <a:avLst>
              <a:gd name="adj" fmla="val 8000"/>
            </a:avLst>
          </a:prstGeom>
          <a:solidFill>
            <a:srgbClr val="203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04-fai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2" y="2916936"/>
            <a:ext cx="2066543" cy="4768596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9957815" y="2843784"/>
            <a:ext cx="758952" cy="50292"/>
          </a:xfrm>
          <a:prstGeom prst="roundRect">
            <a:avLst>
              <a:gd name="adj" fmla="val 8000"/>
            </a:avLst>
          </a:prstGeom>
          <a:solidFill>
            <a:srgbClr val="203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16567" y="7909560"/>
            <a:ext cx="2624328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90"/>
              </a:spcAft>
              <a:defRPr sz="1300" b="0">
                <a:solidFill>
                  <a:srgbClr val="5B6B63"/>
                </a:solidFill>
                <a:latin typeface="Noto Sans CJK JP"/>
              </a:defRPr>
            </a:pPr>
            <a:r>
              <a:t>回答に合わせた4タイプ。</a:t>
            </a:r>
          </a:p>
          <a:p>
            <a:pPr algn="ctr">
              <a:spcAft>
                <a:spcPts val="390"/>
              </a:spcAft>
              <a:defRPr sz="1300" b="0">
                <a:solidFill>
                  <a:srgbClr val="5B6B63"/>
                </a:solidFill>
                <a:latin typeface="Noto Sans CJK JP"/>
              </a:defRPr>
            </a:pPr>
            <a:r>
              <a:t>自分らしい妖精が誕生。</a:t>
            </a:r>
          </a:p>
        </p:txBody>
      </p:sp>
      <p:sp>
        <p:nvSpPr>
          <p:cNvPr id="37" name="Chevron 36"/>
          <p:cNvSpPr/>
          <p:nvPr/>
        </p:nvSpPr>
        <p:spPr>
          <a:xfrm>
            <a:off x="11612880" y="5102352"/>
            <a:ext cx="164592" cy="256032"/>
          </a:xfrm>
          <a:prstGeom prst="chevron">
            <a:avLst/>
          </a:prstGeom>
          <a:solidFill>
            <a:srgbClr val="A38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923776" y="2331720"/>
            <a:ext cx="411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A38249"/>
                </a:solidFill>
                <a:latin typeface="Noto Sans CJK JP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08407" y="236829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17352C"/>
                </a:solidFill>
                <a:latin typeface="Noto Sans CJK JP"/>
              </a:defRPr>
            </a:pPr>
            <a:r>
              <a:t>感謝の贈り物を受け取る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042648" y="2834640"/>
            <a:ext cx="2212848" cy="4864608"/>
          </a:xfrm>
          <a:prstGeom prst="roundRect">
            <a:avLst>
              <a:gd name="adj" fmla="val 8000"/>
            </a:avLst>
          </a:prstGeom>
          <a:solidFill>
            <a:srgbClr val="203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05-gratitu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15800" y="2916936"/>
            <a:ext cx="2066543" cy="4768596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2765024" y="2843784"/>
            <a:ext cx="758952" cy="50292"/>
          </a:xfrm>
          <a:prstGeom prst="roundRect">
            <a:avLst>
              <a:gd name="adj" fmla="val 8000"/>
            </a:avLst>
          </a:prstGeom>
          <a:solidFill>
            <a:srgbClr val="203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923776" y="7909560"/>
            <a:ext cx="2624328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90"/>
              </a:spcAft>
              <a:defRPr sz="1300" b="0">
                <a:solidFill>
                  <a:srgbClr val="5B6B63"/>
                </a:solidFill>
                <a:latin typeface="Noto Sans CJK JP"/>
              </a:defRPr>
            </a:pPr>
            <a:r>
              <a:t>妖精から感謝のメッセージ。</a:t>
            </a:r>
          </a:p>
          <a:p>
            <a:pPr algn="ctr">
              <a:spcAft>
                <a:spcPts val="390"/>
              </a:spcAft>
              <a:defRPr sz="1300" b="0">
                <a:solidFill>
                  <a:srgbClr val="5B6B63"/>
                </a:solidFill>
                <a:latin typeface="Noto Sans CJK JP"/>
              </a:defRPr>
            </a:pPr>
            <a:r>
              <a:t>最後のカードは保存・共有。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8897112"/>
            <a:ext cx="4480560" cy="1042415"/>
          </a:xfrm>
          <a:prstGeom prst="roundRect">
            <a:avLst>
              <a:gd name="adj" fmla="val 8000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9061704"/>
            <a:ext cx="40782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17352C"/>
                </a:solidFill>
                <a:latin typeface="Noto Sans CJK JP"/>
              </a:defRPr>
            </a:pPr>
            <a:r>
              <a:t>感謝を、体験にする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7" y="9418320"/>
            <a:ext cx="407822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45"/>
              </a:spcAft>
              <a:defRPr sz="1150" b="0">
                <a:solidFill>
                  <a:srgbClr val="5B6B63"/>
                </a:solidFill>
                <a:latin typeface="Noto Sans CJK JP"/>
              </a:defRPr>
            </a:pPr>
            <a:r>
              <a:t>読むだけで終わらない、探索とふれあい。</a:t>
            </a:r>
          </a:p>
          <a:p>
            <a:pPr algn="l">
              <a:spcAft>
                <a:spcPts val="345"/>
              </a:spcAft>
              <a:defRPr sz="1150" b="0">
                <a:solidFill>
                  <a:srgbClr val="5B6B63"/>
                </a:solidFill>
                <a:latin typeface="Noto Sans CJK JP"/>
              </a:defRPr>
            </a:pPr>
            <a:r>
              <a:t>一年の感謝を小さな物語として届けます。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21808" y="8897112"/>
            <a:ext cx="4480560" cy="1042415"/>
          </a:xfrm>
          <a:prstGeom prst="roundRect">
            <a:avLst>
              <a:gd name="adj" fmla="val 8000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22976" y="9061704"/>
            <a:ext cx="40782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17352C"/>
                </a:solidFill>
                <a:latin typeface="Noto Sans CJK JP"/>
              </a:defRPr>
            </a:pPr>
            <a:r>
              <a:t>あなたらしさが、贈り物になる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22976" y="9418320"/>
            <a:ext cx="407822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45"/>
              </a:spcAft>
              <a:defRPr sz="1150" b="0">
                <a:solidFill>
                  <a:srgbClr val="5B6B63"/>
                </a:solidFill>
                <a:latin typeface="Noto Sans CJK JP"/>
              </a:defRPr>
            </a:pPr>
            <a:r>
              <a:t>回答によってプレゼントと妖精が変わる。</a:t>
            </a:r>
          </a:p>
          <a:p>
            <a:pPr algn="l">
              <a:spcAft>
                <a:spcPts val="345"/>
              </a:spcAft>
              <a:defRPr sz="1150" b="0">
                <a:solidFill>
                  <a:srgbClr val="5B6B63"/>
                </a:solidFill>
                <a:latin typeface="Noto Sans CJK JP"/>
              </a:defRPr>
            </a:pPr>
            <a:r>
              <a:t>一人ひとりに向けた特別感をつくります。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03536" y="8897112"/>
            <a:ext cx="4480560" cy="1042415"/>
          </a:xfrm>
          <a:prstGeom prst="roundRect">
            <a:avLst>
              <a:gd name="adj" fmla="val 8000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04704" y="9061704"/>
            <a:ext cx="40782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17352C"/>
                </a:solidFill>
                <a:latin typeface="Noto Sans CJK JP"/>
              </a:defRPr>
            </a:pPr>
            <a:r>
              <a:t>体験のあとも、手元に残る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04704" y="9418320"/>
            <a:ext cx="407822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45"/>
              </a:spcAft>
              <a:defRPr sz="1150" b="0">
                <a:solidFill>
                  <a:srgbClr val="5B6B63"/>
                </a:solidFill>
                <a:latin typeface="Noto Sans CJK JP"/>
              </a:defRPr>
            </a:pPr>
            <a:r>
              <a:t>最後のカードは画像として保存・共有。</a:t>
            </a:r>
          </a:p>
          <a:p>
            <a:pPr algn="l">
              <a:spcAft>
                <a:spcPts val="345"/>
              </a:spcAft>
              <a:defRPr sz="1150" b="0">
                <a:solidFill>
                  <a:srgbClr val="5B6B63"/>
                </a:solidFill>
                <a:latin typeface="Noto Sans CJK JP"/>
              </a:defRPr>
            </a:pPr>
            <a:r>
              <a:t>クリスマスの思い出を持ち帰れます。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10195560"/>
            <a:ext cx="13844016" cy="10972"/>
          </a:xfrm>
          <a:prstGeom prst="rect">
            <a:avLst/>
          </a:prstGeom>
          <a:solidFill>
            <a:srgbClr val="DA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103327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5B6B63"/>
                </a:solidFill>
                <a:latin typeface="Noto Sans CJK JP"/>
              </a:defRPr>
            </a:pPr>
            <a:r>
              <a:t>体験デモ  https://kurumi-project.vercel.app/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0" y="10332720"/>
            <a:ext cx="47000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A38249"/>
                </a:solidFill>
                <a:latin typeface="Noto Sans CJK JP"/>
              </a:defRPr>
            </a:pPr>
            <a:r>
              <a:t>2026 CHRISTMAS  /  企画・体験構成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